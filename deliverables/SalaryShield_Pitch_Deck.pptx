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9FAFB"/>
                </a:solidFill>
                <a:latin typeface="Segoe UI"/>
              </a:rPr>
              <a:t>SalaryShield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8B5CF6"/>
                </a:solidFill>
                <a:latin typeface="Segoe UI"/>
              </a:rPr>
              <a:t>AI-Driven, Inflation-Adaptive Compensation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B6BDCC"/>
                </a:solidFill>
                <a:latin typeface="Segoe UI"/>
              </a:rPr>
              <a:t>Quantify real-wage erosion. Justify fair corrections. Retain talent.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8A92A3"/>
                </a:solidFill>
                <a:latin typeface="Segoe UI"/>
              </a:rPr>
              <a:t>Two-sided platform for employees and employers — powered by a City-Level Inflation Index (CLII) and a GenAI Copilot.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737360" cy="457200"/>
          </a:xfrm>
          <a:prstGeom prst="roundRect">
            <a:avLst/>
          </a:prstGeom>
          <a:solidFill>
            <a:srgbClr val="1A2133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9FAFB"/>
                </a:solidFill>
                <a:latin typeface="Segoe UI"/>
              </a:rPr>
              <a:t>React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4754880"/>
            <a:ext cx="1737360" cy="457200"/>
          </a:xfrm>
          <a:prstGeom prst="roundRect">
            <a:avLst/>
          </a:prstGeom>
          <a:solidFill>
            <a:srgbClr val="1A2133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9FAFB"/>
                </a:solidFill>
                <a:latin typeface="Segoe UI"/>
              </a:rPr>
              <a:t>Vite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4754880"/>
            <a:ext cx="1737360" cy="457200"/>
          </a:xfrm>
          <a:prstGeom prst="roundRect">
            <a:avLst/>
          </a:prstGeom>
          <a:solidFill>
            <a:srgbClr val="1A2133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9FAFB"/>
                </a:solidFill>
                <a:latin typeface="Segoe UI"/>
              </a:rPr>
              <a:t>Google Gemini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4754880"/>
            <a:ext cx="1737360" cy="457200"/>
          </a:xfrm>
          <a:prstGeom prst="roundRect">
            <a:avLst/>
          </a:prstGeom>
          <a:solidFill>
            <a:srgbClr val="1A2133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9FAFB"/>
                </a:solidFill>
                <a:latin typeface="Segoe UI"/>
              </a:rPr>
              <a:t>CLII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4754880"/>
            <a:ext cx="1737360" cy="457200"/>
          </a:xfrm>
          <a:prstGeom prst="roundRect">
            <a:avLst/>
          </a:prstGeom>
          <a:solidFill>
            <a:srgbClr val="1A2133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9FAFB"/>
                </a:solidFill>
                <a:latin typeface="Segoe UI"/>
              </a:rPr>
              <a:t>Live Employer 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2A3"/>
                </a:solidFill>
                <a:latin typeface="Segoe UI"/>
              </a:rPr>
              <a:t>Hackathon Submission  ·  Scored across 10 parameters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3108960" cy="384048"/>
          </a:xfrm>
          <a:prstGeom prst="roundRect">
            <a:avLst/>
          </a:prstGeom>
          <a:solidFill>
            <a:srgbClr val="1A2133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EF4444"/>
                </a:solidFill>
                <a:latin typeface="Segoe UI"/>
              </a:rPr>
              <a:t>SCORING PARAMETER 1  ·  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9FAFB"/>
                </a:solidFill>
                <a:latin typeface="Segoe UI"/>
              </a:rPr>
              <a:t>Nominal salary is not real income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Inflation in India's tech hubs silently erodes purchasing power — Hyderabad 8.4%, Mumbai 9.1%, Bengaluru 7.9%.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National CPI (MOSPI) under-weights the urban tech-worker basket: IT-corridor rent, education, food delivery, commute.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Employees can't quantify their real-wage loss or defend a corrective hike with data.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EF4444"/>
                </a:solidFill>
                <a:latin typeface="Segoe UI"/>
              </a:rPr>
              <a:t>Employers lose talent to inflation lag but lack city-level visibility — each exit costs ~₹37.5L in replacement.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Net effect: mis-priced compensation, avoidable attrition, and unfair pay across geographies.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3108960" cy="384048"/>
          </a:xfrm>
          <a:prstGeom prst="roundRect">
            <a:avLst/>
          </a:prstGeom>
          <a:solidFill>
            <a:srgbClr val="1A2133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8B5CF6"/>
                </a:solidFill>
                <a:latin typeface="Segoe UI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9FAFB"/>
                </a:solidFill>
                <a:latin typeface="Segoe UI"/>
              </a:rPr>
              <a:t>One platform, both sides of the pay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Employee: personal inflation rate, real-wage score, 12-month savings-depletion forecast, break-even raise %, an investment allocator, and an AI negotiation coach.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Employer: live compensation budget simulator, attrition-risk ROI, city inflation heatmap, and a computed pay-fairness audit.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CLII Engine: a City-Level Inflation Index fusing rent, food, transport, utilities and education per city.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GenAI Copilot: Google Gemini, answering natural-language questions grounded in the user's own live numbers.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10B981"/>
                </a:solidFill>
                <a:latin typeface="Segoe UI"/>
              </a:rPr>
              <a:t>Every module reads one shared model — so the story stays consistent end to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3108960" cy="384048"/>
          </a:xfrm>
          <a:prstGeom prst="roundRect">
            <a:avLst/>
          </a:prstGeom>
          <a:solidFill>
            <a:srgbClr val="1A2133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10B981"/>
                </a:solidFill>
                <a:latin typeface="Segoe UI"/>
              </a:rPr>
              <a:t>SCORING PARAMETER 2  · 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9FAFB"/>
                </a:solidFill>
                <a:latin typeface="Segoe UI"/>
              </a:rPr>
              <a:t>Layered, model-driven architecture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11183112" cy="7929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3108960" cy="384048"/>
          </a:xfrm>
          <a:prstGeom prst="roundRect">
            <a:avLst/>
          </a:prstGeom>
          <a:solidFill>
            <a:srgbClr val="1A2133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10B981"/>
                </a:solidFill>
                <a:latin typeface="Segoe UI"/>
              </a:rPr>
              <a:t>SCORING PARAMETER 3  ·  ENGINEERING / BUILD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9FAFB"/>
                </a:solidFill>
                <a:latin typeface="Segoe UI"/>
              </a:rPr>
              <a:t>Clean, verifiable, production-shaped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React 19 + Vite 8 SPA; one component per module; lucide-react icons; a CSS-variable design system (glassmorphism).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10B981"/>
                </a:solidFill>
                <a:latin typeface="Segoe UI"/>
              </a:rPr>
              <a:t>Domain logic extracted into src/lib/inflation.js — a single source of truth reused by all 5 modules (DRY), incl. analyzeWorkforce() for the Employer Console.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Pure, deterministic, testable functions: analyzeBudget(), savingsSeries(), analyzeWorkforce(), break-even &amp; personal-inflation engine.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Cross-module consistency: changing city/salary in the Budget Planner live-syncs the Employee Portal, Coach and Copilot within 1 second.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Production build passes — 1,780 modules, ~86 KB gzip. oxlint clean. localStorage persistence survives refresh.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Verified live in-browser during development (real DOM checks, zero console errors).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97880"/>
            <a:ext cx="10881360" cy="640080"/>
          </a:xfrm>
          <a:prstGeom prst="roundRect">
            <a:avLst/>
          </a:prstGeom>
          <a:solidFill>
            <a:srgbClr val="1A2133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In this build:  </a:t>
            </a:r>
            <a:r>
              <a:rPr sz="1300">
                <a:solidFill>
                  <a:srgbClr val="B6BDCC"/>
                </a:solidFill>
                <a:latin typeface="Segoe UI"/>
              </a:rPr>
              <a:t>the whole app compiles and runs; the model layer is unit-test-ready pure functions.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3108960" cy="384048"/>
          </a:xfrm>
          <a:prstGeom prst="roundRect">
            <a:avLst/>
          </a:prstGeom>
          <a:solidFill>
            <a:srgbClr val="1A2133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8B5CF6"/>
                </a:solidFill>
                <a:latin typeface="Segoe UI"/>
              </a:rPr>
              <a:t>SCORING PARAMETER 4  ·  AI APPROPRIATENESS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9FAFB"/>
                </a:solidFill>
                <a:latin typeface="Segoe UI"/>
              </a:rPr>
              <a:t>AI only where it earns its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The hard numbers — inflation, break-even, ROI — stay in deterministic code for accuracy and auditability.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The LLM does what it is uniquely good at: reasoning over the numbers and turning them into plain-language guidance.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8B5CF6"/>
                </a:solidFill>
                <a:latin typeface="Segoe UI"/>
              </a:rPr>
              <a:t>Clear split — Engine computes, AI explains. No AI-for-AI's-sake; no hallucinated math.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Output is genuinely language-shaped: personalized advice and ready-to-send negotiation scripts.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3108960" cy="384048"/>
          </a:xfrm>
          <a:prstGeom prst="roundRect">
            <a:avLst/>
          </a:prstGeom>
          <a:solidFill>
            <a:srgbClr val="1A2133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8B5CF6"/>
                </a:solidFill>
                <a:latin typeface="Segoe UI"/>
              </a:rPr>
              <a:t>SCORING PARAMETER 5  ·  AI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9FAFB"/>
                </a:solidFill>
                <a:latin typeface="Segoe UI"/>
              </a:rPr>
              <a:t>A real, live LLM — grounded and multi-turn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10B981"/>
                </a:solidFill>
                <a:latin typeface="Segoe UI"/>
              </a:rPr>
              <a:t>GenAI Copilot calls Google Gemini 2.0 Flash directly — a real model call, not a scripted response.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RAG-style grounding: a system prompt injects the user's live budget, computed metrics, and the full CLII dataset for every city — answers cite the user's real ₹ figures, not model priors.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Multi-turn: full conversation history is passed on every call, so follow-up questions stay in context.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10B981"/>
                </a:solidFill>
                <a:latin typeface="Segoe UI"/>
              </a:rPr>
              <a:t>One data story across surfaces: Budget Planner → Negotiation Coach → Copilot all read src/lib/inflation.js.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Error-handled: a clear in-chat message (not a silent failure) if the API key or network is unavailable.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97880"/>
            <a:ext cx="10881360" cy="640080"/>
          </a:xfrm>
          <a:prstGeom prst="roundRect">
            <a:avLst/>
          </a:prstGeom>
          <a:solidFill>
            <a:srgbClr val="1A2133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8B5CF6"/>
                </a:solidFill>
                <a:latin typeface="Segoe UI"/>
              </a:rPr>
              <a:t>In this build:  </a:t>
            </a:r>
            <a:r>
              <a:rPr sz="1300">
                <a:solidFill>
                  <a:srgbClr val="B6BDCC"/>
                </a:solidFill>
                <a:latin typeface="Segoe UI"/>
              </a:rPr>
              <a:t>the Copilot is wired to a real Gemini API call (src/lib/llm.js) with the user's live personal-inflation, break-even and target-salary numbers as grounding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3108960" cy="384048"/>
          </a:xfrm>
          <a:prstGeom prst="roundRect">
            <a:avLst/>
          </a:prstGeom>
          <a:solidFill>
            <a:srgbClr val="1A2133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9E0B"/>
                </a:solidFill>
                <a:latin typeface="Segoe UI"/>
              </a:rPr>
              <a:t>SCORING PARAMETER 6  ·  AI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9FAFB"/>
                </a:solidFill>
                <a:latin typeface="Segoe UI"/>
              </a:rPr>
              <a:t>Invisible loss becomes a clear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Employee: surfaces a hidden ~₹1.03L/yr loss and generates a copy-paste, data-backed pitch → higher raise success.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Employer: converts attrition risk into ROI — retain a key hire, avoid ~₹37.5L in replacement cost.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8B5CF6"/>
                </a:solidFill>
                <a:latin typeface="Segoe UI"/>
              </a:rPr>
              <a:t>Personalized inflation (e.g. 7.7% vs a 8.4% city average) — an insight no generic salary calculator gives.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Data → decision in seconds, for both the individual and the organization.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3108960" cy="384048"/>
          </a:xfrm>
          <a:prstGeom prst="roundRect">
            <a:avLst/>
          </a:prstGeom>
          <a:solidFill>
            <a:srgbClr val="1A2133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3B82F6"/>
                </a:solidFill>
                <a:latin typeface="Segoe UI"/>
              </a:rPr>
              <a:t>SCORING PARAMETER 7  ·  BUSINESS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9FAFB"/>
                </a:solidFill>
                <a:latin typeface="Segoe UI"/>
              </a:rPr>
              <a:t>A large, recurring, two-sided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Addressable users: 5M+ Indian IT professionals and every enterprise running India delivery centers.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The pain is universal and recurring — it resurfaces at every appraisal cycle.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Maps directly to top HR priorities: retention, pay equity, and compensation-budget optimization.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10B981"/>
                </a:solidFill>
                <a:latin typeface="Segoe UI"/>
              </a:rPr>
              <a:t>Two-sided design means both the employee and the employer have a reason to adopt.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3108960" cy="384048"/>
          </a:xfrm>
          <a:prstGeom prst="roundRect">
            <a:avLst/>
          </a:prstGeom>
          <a:solidFill>
            <a:srgbClr val="1A2133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10B981"/>
                </a:solidFill>
                <a:latin typeface="Segoe UI"/>
              </a:rPr>
              <a:t>SCORING PARAMETER 8  ·  BENEFITS &amp;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9FAFB"/>
                </a:solidFill>
                <a:latin typeface="Segoe UI"/>
              </a:rPr>
              <a:t>Clear model, low cost, real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Freemium employee tier drives acquisition; B2B SaaS (per-seat / per-audit) drives revenue from employers.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8B5CF6"/>
                </a:solidFill>
                <a:latin typeface="Segoe UI"/>
              </a:rPr>
              <a:t>Data moat: the proprietary CLII index compounds in value as coverage and history grow.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Lean infrastructure — static SPA + serverless LLM calls — keeps unit economics healthy.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10B981"/>
                </a:solidFill>
                <a:latin typeface="Segoe UI"/>
              </a:rPr>
              <a:t>Viable path: MVP is built; remaining pieces (live feeds, HRMS integration, auth) are known and incremental.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3108960" cy="384048"/>
          </a:xfrm>
          <a:prstGeom prst="roundRect">
            <a:avLst/>
          </a:prstGeom>
          <a:solidFill>
            <a:srgbClr val="1A2133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9E0B"/>
                </a:solidFill>
                <a:latin typeface="Segoe UI"/>
              </a:rPr>
              <a:t>SCORING PARAMETER 9  ·  WORKING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9FAFB"/>
                </a:solidFill>
                <a:latin typeface="Segoe UI"/>
              </a:rPr>
              <a:t>Live, interactive,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F9FAFB"/>
                </a:solidFill>
                <a:latin typeface="Segoe UI"/>
              </a:rPr>
              <a:t>A running MVP — not slideware. Four-minute flow: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1  Budget Planner — enter salary, city &amp; expenses → live personal inflation, savings-depletion chart, break-even raise; push rent up → deficit alert fires.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2  Negotiation Coach — the pitch auto-cites those exact numbers → one-click copy.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3  GenAI Copilot — ask 'Am I underpaid?' → a real Gemini call answers with the same live figures.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4  Employer Console — move the hike slider → attrition risk, ROI and fairness metrics recompute 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3108960" cy="384048"/>
          </a:xfrm>
          <a:prstGeom prst="roundRect">
            <a:avLst/>
          </a:prstGeom>
          <a:solidFill>
            <a:srgbClr val="1A2133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8B5CF6"/>
                </a:solidFill>
                <a:latin typeface="Segoe UI"/>
              </a:rPr>
              <a:t>SCORING PARAMETER 10  · 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9FAFB"/>
                </a:solidFill>
                <a:latin typeface="Segoe UI"/>
              </a:rPr>
              <a:t>Why this is not another salary calculator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8B5CF6"/>
                </a:solidFill>
                <a:latin typeface="Segoe UI"/>
              </a:rPr>
              <a:t>Personal, city-level, expense-weighted inflation — not a one-size national average.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Two-sided: employee guidance AND employer workforce economics in one product.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AI output is an artifact you can act on — a negotiation script — not just a number.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10B981"/>
                </a:solidFill>
                <a:latin typeface="Segoe UI"/>
              </a:rPr>
              <a:t>A single, consistent data story flows across every module.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800">
                <a:solidFill>
                  <a:srgbClr val="B6BDCC"/>
                </a:solidFill>
                <a:latin typeface="Segoe UI"/>
              </a:rPr>
              <a:t>The CLII index is defensible IP that strengthens over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4173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3108960" cy="384048"/>
          </a:xfrm>
          <a:prstGeom prst="roundRect">
            <a:avLst/>
          </a:prstGeom>
          <a:solidFill>
            <a:srgbClr val="1A2133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8B5CF6"/>
                </a:solidFill>
                <a:latin typeface="Segoe UI"/>
              </a:rPr>
              <a:t>ROADMAP &amp;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9FAFB"/>
                </a:solidFill>
                <a:latin typeface="Segoe UI"/>
              </a:rPr>
              <a:t>From MVP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700">
                <a:solidFill>
                  <a:srgbClr val="10B981"/>
                </a:solidFill>
                <a:latin typeface="Segoe UI"/>
              </a:rPr>
              <a:t>Now: MVP live — CLII model, 5 modules, live Employer Console, budget engine, Gemini-powered Copilot.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700">
                <a:solidFill>
                  <a:srgbClr val="B6BDCC"/>
                </a:solidFill>
                <a:latin typeface="Segoe UI"/>
              </a:rPr>
              <a:t>Next: live data ingestion (MOSPI/RBI/rent/basket) feeding the CLII pipeline.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700">
                <a:solidFill>
                  <a:srgbClr val="B6BDCC"/>
                </a:solidFill>
                <a:latin typeface="Segoe UI"/>
              </a:rPr>
              <a:t>Next: server-side LLM proxy (key security, rate limiting) + response streaming.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8B5CF6"/>
                </a:solidFill>
                <a:latin typeface="Segoe UI"/>
              </a:rPr>
              <a:t>▸  </a:t>
            </a:r>
            <a:r>
              <a:rPr sz="1700">
                <a:solidFill>
                  <a:srgbClr val="B6BDCC"/>
                </a:solidFill>
                <a:latin typeface="Segoe UI"/>
              </a:rPr>
              <a:t>Then: HRMS integration, auth, multi-user, historical CLII moat.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83080"/>
            <a:ext cx="5120640" cy="3931920"/>
          </a:xfrm>
          <a:prstGeom prst="roundRect">
            <a:avLst/>
          </a:prstGeom>
          <a:solidFill>
            <a:srgbClr val="11162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B5CF6"/>
                </a:solidFill>
                <a:latin typeface="Segoe UI"/>
              </a:rPr>
              <a:t>The one-line pitch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F9FAFB"/>
                </a:solidFill>
                <a:latin typeface="Segoe UI"/>
              </a:rPr>
              <a:t>SalaryShield turns invisible inflation into a fair, data-backed pay decision — for the employee and the employer.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800" b="0" i="0">
                <a:solidFill>
                  <a:srgbClr val="F9FAF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B6BDCC"/>
                </a:solidFill>
                <a:latin typeface="Segoe UI"/>
              </a:rPr>
              <a:t>Built with React 19 + Vite 8, a deterministic CLII engine, and a Gemini-powered GenAI Copilot grounded in the user's real numbers.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